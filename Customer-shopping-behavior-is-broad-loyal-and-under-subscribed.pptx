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 Bold"/>
      <p:regular r:id="rId201314"/>
    </p:embeddedFont>
    <p:embeddedFont>
      <p:font typeface="Bitter ExtraBold"/>
      <p:regular r:id="rId201315"/>
    </p:embeddedFont>
    <p:embeddedFont>
      <p:font typeface="Public Sans"/>
      <p:regular r:id="rId201316"/>
    </p:embeddedFont>
    <p:embeddedFont>
      <p:font typeface="Public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8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8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E5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1621929"/>
            <a:ext cx="241691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029420"/>
            <a:ext cx="6217784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FFFFFF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Customer shopping behavior is broad, loyal, and under-subscribed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189" y="4867870"/>
            <a:ext cx="6674973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leadership readout from 3,900 purchases.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The dataset is large enough to reveal patterns, not just anecdotes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3555911" cy="2214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67470"/>
            <a:ext cx="3555911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996976"/>
            <a:ext cx="73370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2299" y="1934170"/>
            <a:ext cx="2822207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3,900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62299" y="2791420"/>
            <a:ext cx="305080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purchases across 18 fields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7892" y="1667470"/>
            <a:ext cx="3555911" cy="2214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17892" y="1667470"/>
            <a:ext cx="3555911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4546486" y="1996976"/>
            <a:ext cx="769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8720" y="1934170"/>
            <a:ext cx="2786489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$59.76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858720" y="2791420"/>
            <a:ext cx="301508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purchase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78595" y="1667470"/>
            <a:ext cx="3555911" cy="2214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8595" y="1667470"/>
            <a:ext cx="3555911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8407190" y="1996976"/>
            <a:ext cx="77140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21408" y="1934170"/>
            <a:ext cx="278450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3.75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721408" y="2791420"/>
            <a:ext cx="301309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review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189" y="4186535"/>
            <a:ext cx="11277318" cy="2214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189" y="4186535"/>
            <a:ext cx="11277318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783" y="4516041"/>
            <a:ext cx="7831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1708" y="4453235"/>
            <a:ext cx="1049420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37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011708" y="5310485"/>
            <a:ext cx="1072279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ratings imputed by product-category median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1310779"/>
            <a:ext cx="715151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3" name="Text 1"/>
          <p:cNvSpPr/>
          <p:nvPr/>
        </p:nvSpPr>
        <p:spPr>
          <a:xfrm>
            <a:off x="578034" y="1371203"/>
            <a:ext cx="108304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Part 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189" y="1718270"/>
            <a:ext cx="6126406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14" kern="0" dirty="0">
                <a:solidFill>
                  <a:srgbClr val="FFFFFF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Where the money comes from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457189" y="4810720"/>
            <a:ext cx="612640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Category mix and customer composition shape the opportunity.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Clothing is the commercial center of gravity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5486263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871490"/>
            <a:ext cx="5029074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14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#1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85783" y="395099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Clothing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783" y="4415135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Leads both revenue and sales.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1160760"/>
            <a:ext cx="5486263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116076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142746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Next in the mix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76838" y="1891605"/>
            <a:ext cx="5029074" cy="116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Accessories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Footwear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Outerwear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6838" y="5452170"/>
            <a:ext cx="502907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Category ranking shown from the report; dashboard bar readings are approximate where exact values are not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Revenue follows the customer base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6949306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6949306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427460"/>
            <a:ext cx="6492117" cy="3130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4636988"/>
            <a:ext cx="672071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contribution in the analyzed transactions.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11188" y="1160760"/>
            <a:ext cx="4023319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711188" y="1160760"/>
            <a:ext cx="402331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9" name="Text 6"/>
          <p:cNvSpPr/>
          <p:nvPr/>
        </p:nvSpPr>
        <p:spPr>
          <a:xfrm>
            <a:off x="7939782" y="1427460"/>
            <a:ext cx="356613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$157,890 vs. $75,191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9782" y="1891605"/>
            <a:ext cx="356613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 customers generated more revenue than female customers in this dataset.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39782" y="5692180"/>
            <a:ext cx="356613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contribution, not a measure of customer value or profitability.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Young adults contribute the most revenue, but no age group dominates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7315017" cy="4733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67470"/>
            <a:ext cx="7315017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934170"/>
            <a:ext cx="6857828" cy="33698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76998" y="1667470"/>
            <a:ext cx="3657509" cy="4733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076998" y="1667470"/>
            <a:ext cx="36575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8" name="Text 5"/>
          <p:cNvSpPr/>
          <p:nvPr/>
        </p:nvSpPr>
        <p:spPr>
          <a:xfrm>
            <a:off x="8305592" y="1934170"/>
            <a:ext cx="32003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$62,143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305592" y="2791420"/>
            <a:ext cx="342891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 Adult revenue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05592" y="5546130"/>
            <a:ext cx="32003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Adult: $55,978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Senior: $55,763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1471116"/>
            <a:ext cx="750968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3" name="Text 1"/>
          <p:cNvSpPr/>
          <p:nvPr/>
        </p:nvSpPr>
        <p:spPr>
          <a:xfrm>
            <a:off x="578034" y="1531541"/>
            <a:ext cx="111886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Part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189" y="1926233"/>
            <a:ext cx="6126406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114" kern="0" dirty="0">
                <a:solidFill>
                  <a:srgbClr val="FFFFFF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What keeps customers coming back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457189" y="5018683"/>
            <a:ext cx="6583595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strongest signal is frequency, not ticket size.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The customer base is already heavily loyal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6949306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6949306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427460"/>
            <a:ext cx="6492117" cy="33040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4810919"/>
            <a:ext cx="672071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Retention funnel from the analyzed customer base.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11188" y="1160760"/>
            <a:ext cx="4023319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711188" y="1160760"/>
            <a:ext cx="402331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9" name="Text 6"/>
          <p:cNvSpPr/>
          <p:nvPr/>
        </p:nvSpPr>
        <p:spPr>
          <a:xfrm>
            <a:off x="7939782" y="1427460"/>
            <a:ext cx="356613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3,116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7939782" y="2284710"/>
            <a:ext cx="37947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 customers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39782" y="2691408"/>
            <a:ext cx="3566031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12" name="Text 9"/>
          <p:cNvSpPr/>
          <p:nvPr/>
        </p:nvSpPr>
        <p:spPr>
          <a:xfrm>
            <a:off x="7939782" y="2889845"/>
            <a:ext cx="3566130" cy="7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701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Returning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83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New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39782" y="5692180"/>
            <a:ext cx="356613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largest pool is loyal; the new-customer pool is comparatively small.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Subscription is a retention lever, not a higher-spend lever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5486263" cy="431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6747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074392"/>
            <a:ext cx="502907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$59.49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783" y="3931642"/>
            <a:ext cx="52576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subscriber purchase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783" y="4285952"/>
            <a:ext cx="1619904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8" name="Text 6"/>
          <p:cNvSpPr/>
          <p:nvPr/>
        </p:nvSpPr>
        <p:spPr>
          <a:xfrm>
            <a:off x="806628" y="4346377"/>
            <a:ext cx="198779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27% subscribed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8244" y="1667470"/>
            <a:ext cx="5486263" cy="431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48244" y="166747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6476838" y="3118445"/>
            <a:ext cx="502907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$59.87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76838" y="3975695"/>
            <a:ext cx="502907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non-subscriber purchase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73% non-subscribed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189" y="6160790"/>
            <a:ext cx="1173450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Sell convenience, benefits, and continuity — not a promise of a larger basket.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Discounts are widespread across the product mix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7680728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7680728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427460"/>
            <a:ext cx="7223540" cy="34341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4940995"/>
            <a:ext cx="722354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Ranked categories from the reported highest discounted-purchase rates; dashboard readings are approximate where exact values are unavailable.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42610" y="1160760"/>
            <a:ext cx="3291897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8442610" y="1160760"/>
            <a:ext cx="3291897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9" name="Text 6"/>
          <p:cNvSpPr/>
          <p:nvPr/>
        </p:nvSpPr>
        <p:spPr>
          <a:xfrm>
            <a:off x="8671204" y="1427460"/>
            <a:ext cx="2834708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78" kern="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47.37%–50.00%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71204" y="2945110"/>
            <a:ext cx="283470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Discounted-purchase rate across the five leading categories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71204" y="4790678"/>
            <a:ext cx="2115985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12" name="Text 9"/>
          <p:cNvSpPr/>
          <p:nvPr/>
        </p:nvSpPr>
        <p:spPr>
          <a:xfrm>
            <a:off x="8792050" y="4851102"/>
            <a:ext cx="248387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Management question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71204" y="5233095"/>
            <a:ext cx="283470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do we protect margin while discounts remain widespread?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2026-09-23T09:54:46Z</dcterms:created>
  <dcterms:modified xsi:type="dcterms:W3CDTF">2026-09-23T09:54:46Z</dcterms:modified>
</cp:coreProperties>
</file>